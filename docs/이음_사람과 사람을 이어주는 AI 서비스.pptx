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ans KR" panose="020B0200000000000000" pitchFamily="50" charset="-12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JLpWDnE4jDgsBz9n6bxvhFa/q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7.png"/><Relationship Id="rId5" Type="http://schemas.openxmlformats.org/officeDocument/2006/relationships/image" Target="../media/image8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9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8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1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5" Type="http://schemas.openxmlformats.org/officeDocument/2006/relationships/image" Target="../media/image8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2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79.png"/><Relationship Id="rId5" Type="http://schemas.openxmlformats.org/officeDocument/2006/relationships/image" Target="../media/image8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1.png"/><Relationship Id="rId21" Type="http://schemas.openxmlformats.org/officeDocument/2006/relationships/image" Target="../media/image103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93.png"/><Relationship Id="rId5" Type="http://schemas.openxmlformats.org/officeDocument/2006/relationships/image" Target="../media/image8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2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Relationship Id="rId22" Type="http://schemas.openxmlformats.org/officeDocument/2006/relationships/image" Target="../media/image10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18" Type="http://schemas.openxmlformats.org/officeDocument/2006/relationships/image" Target="../media/image115.png"/><Relationship Id="rId3" Type="http://schemas.openxmlformats.org/officeDocument/2006/relationships/image" Target="../media/image1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17" Type="http://schemas.openxmlformats.org/officeDocument/2006/relationships/hyperlink" Target="http://drive.google.com/file/d/1_pLsFkiv1sLCHiz2ilix0er-LLdYoVa9/view" TargetMode="Externa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09.png"/><Relationship Id="rId5" Type="http://schemas.openxmlformats.org/officeDocument/2006/relationships/image" Target="../media/image8.png"/><Relationship Id="rId15" Type="http://schemas.openxmlformats.org/officeDocument/2006/relationships/image" Target="../media/image113.png"/><Relationship Id="rId10" Type="http://schemas.openxmlformats.org/officeDocument/2006/relationships/image" Target="../media/image108.png"/><Relationship Id="rId4" Type="http://schemas.openxmlformats.org/officeDocument/2006/relationships/image" Target="../media/image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26" Type="http://schemas.openxmlformats.org/officeDocument/2006/relationships/image" Target="../media/image136.png"/><Relationship Id="rId3" Type="http://schemas.openxmlformats.org/officeDocument/2006/relationships/image" Target="../media/image2.png"/><Relationship Id="rId21" Type="http://schemas.openxmlformats.org/officeDocument/2006/relationships/image" Target="../media/image131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5" Type="http://schemas.openxmlformats.org/officeDocument/2006/relationships/image" Target="../media/image13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6.png"/><Relationship Id="rId20" Type="http://schemas.openxmlformats.org/officeDocument/2006/relationships/image" Target="../media/image130.png"/><Relationship Id="rId29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24" Type="http://schemas.openxmlformats.org/officeDocument/2006/relationships/image" Target="../media/image134.png"/><Relationship Id="rId5" Type="http://schemas.openxmlformats.org/officeDocument/2006/relationships/image" Target="../media/image9.png"/><Relationship Id="rId15" Type="http://schemas.openxmlformats.org/officeDocument/2006/relationships/image" Target="../media/image125.png"/><Relationship Id="rId23" Type="http://schemas.openxmlformats.org/officeDocument/2006/relationships/image" Target="../media/image133.png"/><Relationship Id="rId28" Type="http://schemas.openxmlformats.org/officeDocument/2006/relationships/image" Target="../media/image138.png"/><Relationship Id="rId10" Type="http://schemas.openxmlformats.org/officeDocument/2006/relationships/image" Target="../media/image120.png"/><Relationship Id="rId19" Type="http://schemas.openxmlformats.org/officeDocument/2006/relationships/image" Target="../media/image129.png"/><Relationship Id="rId4" Type="http://schemas.openxmlformats.org/officeDocument/2006/relationships/image" Target="../media/image8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Relationship Id="rId22" Type="http://schemas.openxmlformats.org/officeDocument/2006/relationships/image" Target="../media/image132.png"/><Relationship Id="rId27" Type="http://schemas.openxmlformats.org/officeDocument/2006/relationships/image" Target="../media/image137.png"/><Relationship Id="rId30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26" Type="http://schemas.openxmlformats.org/officeDocument/2006/relationships/image" Target="../media/image161.png"/><Relationship Id="rId3" Type="http://schemas.openxmlformats.org/officeDocument/2006/relationships/image" Target="../media/image2.png"/><Relationship Id="rId21" Type="http://schemas.openxmlformats.org/officeDocument/2006/relationships/image" Target="../media/image156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29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59.png"/><Relationship Id="rId5" Type="http://schemas.openxmlformats.org/officeDocument/2006/relationships/image" Target="../media/image9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28" Type="http://schemas.openxmlformats.org/officeDocument/2006/relationships/image" Target="../media/image163.png"/><Relationship Id="rId10" Type="http://schemas.openxmlformats.org/officeDocument/2006/relationships/image" Target="../media/image145.png"/><Relationship Id="rId19" Type="http://schemas.openxmlformats.org/officeDocument/2006/relationships/image" Target="../media/image154.png"/><Relationship Id="rId4" Type="http://schemas.openxmlformats.org/officeDocument/2006/relationships/image" Target="../media/image8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Relationship Id="rId27" Type="http://schemas.openxmlformats.org/officeDocument/2006/relationships/image" Target="../media/image162.png"/><Relationship Id="rId30" Type="http://schemas.openxmlformats.org/officeDocument/2006/relationships/image" Target="../media/image1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762000"/>
            <a:ext cx="6953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2125" y="914400"/>
            <a:ext cx="571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2500" y="5572125"/>
            <a:ext cx="381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1104900" y="762000"/>
            <a:ext cx="48705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52500" y="1676400"/>
            <a:ext cx="11239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0"/>
              <a:buFont typeface="Calibri"/>
              <a:buNone/>
            </a:pPr>
            <a:r>
              <a:rPr lang="en-US" sz="90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이음 (IEUM )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52500" y="3162300"/>
            <a:ext cx="11239500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2100"/>
              <a:buFont typeface="Noto Sans KR"/>
              <a:buNone/>
            </a:pPr>
            <a:r>
              <a:rPr lang="en-US" sz="210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Whisper + Gemini 기반 구음장애 음성 자막 보정 시스템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952500" y="3649861"/>
            <a:ext cx="104013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Noto Sans KR"/>
              <a:buNone/>
            </a:pPr>
            <a:r>
              <a:rPr lang="en-US" sz="180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사람과 사람을 이어주는 AI 기반 실시간 의사소통 보조 서비스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143000" y="5572125"/>
            <a:ext cx="55035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디지털소프트웨어공학부 24학번 김유리, 명지민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143000" y="5867400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2026. 06. 28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000"/>
            <a:ext cx="590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6350" y="514350"/>
            <a:ext cx="103441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471613"/>
            <a:ext cx="52959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471613"/>
            <a:ext cx="52959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874740"/>
            <a:ext cx="261937" cy="2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855815"/>
            <a:ext cx="261937" cy="2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5836890"/>
            <a:ext cx="261937" cy="2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24600" y="1466850"/>
            <a:ext cx="529590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86400" y="2842600"/>
            <a:ext cx="4533900" cy="1631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14992" y="3120109"/>
            <a:ext cx="407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858092" y="3470101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914992" y="3674291"/>
            <a:ext cx="40767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705600" y="4761374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705600" y="512334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705600" y="5677748"/>
            <a:ext cx="178594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685800" y="381000"/>
            <a:ext cx="468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IEUM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71500" y="733425"/>
            <a:ext cx="11229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50"/>
              <a:buFont typeface="Calibri"/>
              <a:buNone/>
            </a:pPr>
            <a:r>
              <a:rPr lang="en-US" sz="28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프로젝트 배경 및 목표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47737" y="3824288"/>
            <a:ext cx="33737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비표준 발화 인식의 한계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95350" y="4157663"/>
            <a:ext cx="4224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일반 STT 시스템은 구음장애인의 독특한 발음과 호흡을 정확하게 인식하지 못합니다.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47737" y="4805363"/>
            <a:ext cx="312229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화상회의 내 소통 장벽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95350" y="5138738"/>
            <a:ext cx="4454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비대면 환경에서 구음장애인의 의사 전달은 더욱 어려워지며 고립감을 유발합니다.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47737" y="5786438"/>
            <a:ext cx="287083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왜곡된 자막의 부작용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95350" y="6119813"/>
            <a:ext cx="431988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부정확한 자막은 오히려 대화의 흐름을 끊고 잘못된 정보를 전달하는 원인이 됩니다.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705600" y="1609725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이음(IEUM)의 해결 목표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705600" y="2172211"/>
            <a:ext cx="443790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Noto Sans KR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AI를 통해 구음장애인의 목소리를 세상과 잇는 기술적 다리를 구축합니다.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067392" y="3189165"/>
            <a:ext cx="967740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alibri"/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791297" y="3167725"/>
            <a:ext cx="279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"어... 느... 하... 세... 요..." (인식 왜곡)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067392" y="3857647"/>
            <a:ext cx="8193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alibri"/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791292" y="3721916"/>
            <a:ext cx="22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"안녕하세요, 만나서 반갑습니다."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(자연스러운 보정)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066973" y="4521540"/>
            <a:ext cx="2298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Whisper + Gemini 문장 보정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047987" y="4895036"/>
            <a:ext cx="31254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Meet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실시간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자막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오버레이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960394" y="5645006"/>
            <a:ext cx="40197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Noto Sans KR"/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사람과 사람을 이어주는 따뜻한 AI 서비스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1000"/>
            <a:ext cx="590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76350" y="514350"/>
            <a:ext cx="103441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466850"/>
            <a:ext cx="1104900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810250"/>
            <a:ext cx="110490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502694" y="593883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559844" y="6015038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685800" y="381000"/>
            <a:ext cx="468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IEUM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71500" y="733425"/>
            <a:ext cx="11229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50"/>
              <a:buFont typeface="Calibri"/>
              <a:buNone/>
            </a:pPr>
            <a:r>
              <a:rPr lang="en-US" sz="28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시스템 아키텍처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959894" y="5934075"/>
            <a:ext cx="923210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Whisper </a:t>
            </a:r>
            <a:r>
              <a:rPr lang="en-US" sz="1650" b="1" i="0" u="none" strike="noStrike" cap="none">
                <a:solidFill>
                  <a:srgbClr val="FBC02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6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Gemini </a:t>
            </a:r>
            <a:r>
              <a:rPr lang="en-US" sz="1650" b="1" i="0" u="none" strike="noStrike" cap="none">
                <a:solidFill>
                  <a:srgbClr val="FBC02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6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Google Meet Overlay 기반 AI 자막 파이프라인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3" title="architecture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78156" y="1539775"/>
            <a:ext cx="6035689" cy="4023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000"/>
            <a:ext cx="590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6350" y="514350"/>
            <a:ext cx="103441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76450"/>
            <a:ext cx="2057400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076450"/>
            <a:ext cx="20574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3500" y="236220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57325" y="2514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3476625"/>
            <a:ext cx="16764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52450" y="5872163"/>
            <a:ext cx="2057400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819400" y="2076450"/>
            <a:ext cx="2057400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819400" y="2076450"/>
            <a:ext cx="20574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81400" y="236220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705225" y="2514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09900" y="3476625"/>
            <a:ext cx="16764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800350" y="5872163"/>
            <a:ext cx="2057400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067300" y="2076450"/>
            <a:ext cx="2057400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067300" y="2076450"/>
            <a:ext cx="20574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829300" y="236220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953125" y="2514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257800" y="3476625"/>
            <a:ext cx="16764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048250" y="5872163"/>
            <a:ext cx="2057399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315200" y="2076450"/>
            <a:ext cx="2057400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315200" y="2076450"/>
            <a:ext cx="20574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 descr="preencoded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8077200" y="236220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 descr="preencoded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8201025" y="2514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505700" y="3476625"/>
            <a:ext cx="16764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296150" y="5872163"/>
            <a:ext cx="2057399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 descr="preencoded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9563100" y="2076450"/>
            <a:ext cx="2057400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preencoded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9563100" y="2076450"/>
            <a:ext cx="20574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25100" y="236220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 descr="preencoded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0448925" y="2514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 descr="preencoded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9753600" y="3476625"/>
            <a:ext cx="16764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 descr="preencoded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9544050" y="5872163"/>
            <a:ext cx="2057400" cy="41433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685800" y="381000"/>
            <a:ext cx="468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IEUM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71500" y="733425"/>
            <a:ext cx="11229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50"/>
              <a:buFont typeface="Calibri"/>
              <a:buNone/>
            </a:pPr>
            <a:r>
              <a:rPr lang="en-US" sz="28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기술 스택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71500" y="1466850"/>
            <a:ext cx="1162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500"/>
              <a:buFont typeface="Noto Sans KR"/>
              <a:buNone/>
            </a:pPr>
            <a:r>
              <a:rPr lang="en-US" sz="150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AI 모델, 백엔드 프레임워크, 프론트엔드 및 개발 플랫폼 등 프로젝트 구현에 사용된 핵심 기술 도구들을 소개합니다.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104900" y="3009900"/>
            <a:ext cx="990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AI Engine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62000" y="3676650"/>
            <a:ext cx="29660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OpenAI Whisper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62000" y="3971925"/>
            <a:ext cx="1503908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Speech-to-Text 엔진을 통한 고정밀 음성 인식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62000" y="4573786"/>
            <a:ext cx="27603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Google Gemini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62000" y="4869061"/>
            <a:ext cx="1676400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비표준 발화 교정 및 자연스러운 문장 보정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04850" y="5872163"/>
            <a:ext cx="17526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75"/>
              <a:buFont typeface="Noto Sans KR"/>
              <a:buNone/>
            </a:pPr>
            <a:r>
              <a:rPr lang="en-US" sz="975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Core Intelligence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390900" y="3009900"/>
            <a:ext cx="9144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009900" y="3676650"/>
            <a:ext cx="1762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Python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009900" y="3971925"/>
            <a:ext cx="1676400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AI 모델 통합 및 데이터 처리를 위한 메인 언어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009900" y="4535686"/>
            <a:ext cx="1762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FastAPI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009900" y="4830961"/>
            <a:ext cx="1542157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고성능 비동기 REST API 서버 구축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952750" y="5872163"/>
            <a:ext cx="17526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75"/>
              <a:buFont typeface="Noto Sans KR"/>
              <a:buNone/>
            </a:pPr>
            <a:r>
              <a:rPr lang="en-US" sz="975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Scalable Architecture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619750" y="3009900"/>
            <a:ext cx="952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257800" y="3676650"/>
            <a:ext cx="337756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Chrome Extension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257800" y="3971925"/>
            <a:ext cx="1676400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브라우저 기반 서비스 통합 및 인터페이스 제공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257800" y="4535686"/>
            <a:ext cx="255460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Web Standard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257800" y="4830961"/>
            <a:ext cx="1676400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HTML5, CSS3, JavaScript를 활용한 UI 구현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200650" y="5872163"/>
            <a:ext cx="17526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75"/>
              <a:buFont typeface="Noto Sans KR"/>
              <a:buNone/>
            </a:pPr>
            <a:r>
              <a:rPr lang="en-US" sz="975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User Interface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877175" y="3009900"/>
            <a:ext cx="9334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505700" y="3676650"/>
            <a:ext cx="27603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Google Chrome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505700" y="3971925"/>
            <a:ext cx="1580555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확장 프로그램 구동을 위한 표준 브라우저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505700" y="4573786"/>
            <a:ext cx="234886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Google Meet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505700" y="4869061"/>
            <a:ext cx="1561356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자막 오버레이 적용 타겟 플랫폼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7448550" y="5872163"/>
            <a:ext cx="17526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75"/>
              <a:buFont typeface="Noto Sans KR"/>
              <a:buNone/>
            </a:pPr>
            <a:r>
              <a:rPr lang="en-US" sz="975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Environment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0096500" y="3009900"/>
            <a:ext cx="990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Dev Tools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753600" y="3676650"/>
            <a:ext cx="2438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Git &amp; GitHub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753600" y="3971925"/>
            <a:ext cx="1676400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버전 관리 및 팀 협업을 위한 코드 저장소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753600" y="4535686"/>
            <a:ext cx="1762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VS Code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753600" y="4830961"/>
            <a:ext cx="1561356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효율적인 개발 환경을 위한 메인 IDE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9696450" y="5872163"/>
            <a:ext cx="17526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75"/>
              <a:buFont typeface="Noto Sans KR"/>
              <a:buNone/>
            </a:pPr>
            <a:r>
              <a:rPr lang="en-US" sz="975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Workflow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1000"/>
            <a:ext cx="590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76350" y="514350"/>
            <a:ext cx="103441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466850"/>
            <a:ext cx="3152775" cy="1138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186451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57300" y="1940719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76675" y="1466850"/>
            <a:ext cx="3152775" cy="1138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67175" y="186451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62475" y="1940719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2757488"/>
            <a:ext cx="3152775" cy="1138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5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2000" y="315515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5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57300" y="3231356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5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876675" y="2757488"/>
            <a:ext cx="3152775" cy="1138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5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067175" y="315515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562475" y="3231356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5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71500" y="4048125"/>
            <a:ext cx="3152775" cy="1138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44579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5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257300" y="4521994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5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876675" y="4048125"/>
            <a:ext cx="3152775" cy="1138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67175" y="444579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5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562475" y="4521994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5338763"/>
            <a:ext cx="3152775" cy="1138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62000" y="573643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257300" y="5812631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" descr="preencoded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7315200" y="1594545"/>
            <a:ext cx="43053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 descr="preencoded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7315200" y="5747445"/>
            <a:ext cx="4305300" cy="601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" descr="preencoded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366659" y="1361627"/>
            <a:ext cx="4228059" cy="4345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5" descr="preencoded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5983784" y="3333750"/>
            <a:ext cx="2286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"/>
          <p:cNvSpPr/>
          <p:nvPr/>
        </p:nvSpPr>
        <p:spPr>
          <a:xfrm>
            <a:off x="685800" y="381000"/>
            <a:ext cx="468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IEUM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71500" y="733425"/>
            <a:ext cx="11229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50"/>
              <a:buFont typeface="Calibri"/>
              <a:buNone/>
            </a:pPr>
            <a:r>
              <a:rPr lang="en-US" sz="28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실행 환경 및 워크플로우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904875" y="1864519"/>
            <a:ext cx="428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7CB34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638300" y="1907381"/>
            <a:ext cx="337756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Clone Repository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191000" y="1864519"/>
            <a:ext cx="428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7CB34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962525" y="1778794"/>
            <a:ext cx="181882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Virtual Environment 설정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85825" y="3155156"/>
            <a:ext cx="428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7CB34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638300" y="3198025"/>
            <a:ext cx="1818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pip install 의존성 설치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186238" y="3155156"/>
            <a:ext cx="428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943475" y="3198019"/>
            <a:ext cx="27603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FastAPI 서버 실행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885825" y="4445794"/>
            <a:ext cx="428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7CB34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638300" y="4488650"/>
            <a:ext cx="2050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Chrome Extension 등록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191000" y="4445794"/>
            <a:ext cx="428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7CB34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943475" y="4488656"/>
            <a:ext cx="29660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Google Meet 접속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890588" y="5736431"/>
            <a:ext cx="428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7CB34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638300" y="5779294"/>
            <a:ext cx="2143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WAV 파일 업로드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5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876675" y="5338763"/>
            <a:ext cx="3152775" cy="1138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/>
          <p:nvPr/>
        </p:nvSpPr>
        <p:spPr>
          <a:xfrm>
            <a:off x="7429500" y="5861745"/>
            <a:ext cx="4076700" cy="37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FastAPI Swagger UI:</a:t>
            </a:r>
            <a:r>
              <a:rPr lang="en-US" sz="105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 백엔드 서버 실행 후 오디오 업로드 및 STT 처리를 위한 API 엔드포인트가 정상적으로 활성화된 상태입니다.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945723" y="5641113"/>
            <a:ext cx="22800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자막 시작 (Live Overlay)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5" descr="preencoded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562475" y="5799014"/>
            <a:ext cx="228600" cy="198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5"/>
          <p:cNvGrpSpPr/>
          <p:nvPr/>
        </p:nvGrpSpPr>
        <p:grpSpPr>
          <a:xfrm>
            <a:off x="4081795" y="5726907"/>
            <a:ext cx="544745" cy="342912"/>
            <a:chOff x="3943250" y="5726907"/>
            <a:chExt cx="544745" cy="342912"/>
          </a:xfrm>
        </p:grpSpPr>
        <p:pic>
          <p:nvPicPr>
            <p:cNvPr id="210" name="Google Shape;210;p5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943250" y="5726907"/>
              <a:ext cx="34290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5"/>
            <p:cNvSpPr/>
            <p:nvPr/>
          </p:nvSpPr>
          <p:spPr>
            <a:xfrm>
              <a:off x="4059295" y="5726919"/>
              <a:ext cx="4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CB342"/>
                </a:buClr>
                <a:buSzPts val="1350"/>
                <a:buFont typeface="Calibri"/>
                <a:buNone/>
              </a:pPr>
              <a:r>
                <a:rPr lang="en-US" sz="1350" b="1" i="0" u="none" strike="noStrike" cap="none">
                  <a:solidFill>
                    <a:srgbClr val="7CB342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1000"/>
            <a:ext cx="590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76350" y="514350"/>
            <a:ext cx="103441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5049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1809750"/>
            <a:ext cx="53721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48400" y="15049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48400" y="1809750"/>
            <a:ext cx="53721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57988" y="1925538"/>
            <a:ext cx="4352925" cy="3006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6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5276850"/>
            <a:ext cx="35559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6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51200" y="5562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6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317950" y="5276850"/>
            <a:ext cx="35559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6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508450" y="5486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6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397651" y="5562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6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064401" y="5276850"/>
            <a:ext cx="35559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6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254901" y="5486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6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144101" y="5562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6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62397" y="1821904"/>
            <a:ext cx="4828580" cy="319474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/>
          <p:nvPr/>
        </p:nvSpPr>
        <p:spPr>
          <a:xfrm>
            <a:off x="685800" y="381000"/>
            <a:ext cx="468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IEUM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71500" y="733425"/>
            <a:ext cx="11229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50"/>
              <a:buFont typeface="Calibri"/>
              <a:buNone/>
            </a:pPr>
            <a:r>
              <a:rPr lang="en-US" sz="28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크롬 확장 프로그램 구성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838200" y="1466850"/>
            <a:ext cx="5372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1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Chrome Extension 관리 화면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515100" y="1466850"/>
            <a:ext cx="5372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1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IEUM Demo Popup UI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919162" y="5486400"/>
            <a:ext cx="4667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highlight>
                  <a:srgbClr val="FBC02D"/>
                </a:highlight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295400" y="5429250"/>
            <a:ext cx="19373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WAV 파일 선택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1295400" y="5724525"/>
            <a:ext cx="2476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구음장애인 음성 데이터 로드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647092" y="5480649"/>
            <a:ext cx="12672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 dirty="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041850" y="5429250"/>
            <a:ext cx="27603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FastAPI 서버 요청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041850" y="5724525"/>
            <a:ext cx="391668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Whisper + Gemini 보정 프로세스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8393013" y="5486400"/>
            <a:ext cx="4667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8788301" y="5429250"/>
            <a:ext cx="34036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Noto Sans KR"/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Google Meet 자막 시작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8788301" y="5724525"/>
            <a:ext cx="27965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50"/>
              <a:buFont typeface="Noto Sans KR"/>
              <a:buNone/>
            </a:pPr>
            <a:r>
              <a:rPr lang="en-US" sz="105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Overlay UI 출력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6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86875" y="54864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/>
          <p:nvPr/>
        </p:nvSpPr>
        <p:spPr>
          <a:xfrm>
            <a:off x="891650" y="5562600"/>
            <a:ext cx="171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KR"/>
              <a:buNone/>
            </a:pPr>
            <a:r>
              <a:rPr lang="en-US" b="1" i="0" u="none" strike="noStrike" cap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1000"/>
            <a:ext cx="590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76350" y="514350"/>
            <a:ext cx="103441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466850"/>
            <a:ext cx="39624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66913" y="169569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62100" y="4979546"/>
            <a:ext cx="19812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0" y="1600200"/>
            <a:ext cx="2667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62500" y="4762500"/>
            <a:ext cx="2667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7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43475" y="4930973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7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58100" y="1466850"/>
            <a:ext cx="39624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7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353550" y="176266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7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71500" y="6115050"/>
            <a:ext cx="11049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7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164681" y="62674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7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288631" y="62750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7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45819" y="62674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055519" y="62750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7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412706" y="62674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7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736681" y="62750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7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093869" y="62674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7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05294" y="2002298"/>
            <a:ext cx="3704630" cy="304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7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793992" y="2147916"/>
            <a:ext cx="3699570" cy="288801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/>
          <p:nvPr/>
        </p:nvSpPr>
        <p:spPr>
          <a:xfrm>
            <a:off x="685800" y="381000"/>
            <a:ext cx="468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IEUM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71500" y="733425"/>
            <a:ext cx="11229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50"/>
              <a:buFont typeface="Calibri"/>
              <a:buNone/>
            </a:pPr>
            <a:r>
              <a:rPr lang="en-US" sz="28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서비스 동작 프로세스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1562100" y="4979546"/>
            <a:ext cx="198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Whisper 음성 인식 처리 화면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5153025" y="4876800"/>
            <a:ext cx="21621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200"/>
              <a:buFont typeface="Noto Sans KR"/>
              <a:buNone/>
            </a:pPr>
            <a:r>
              <a:rPr lang="en-US" sz="120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 Whisper 인식 → Gemini 보정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8639175" y="5017894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Overlay 자막 출력 결과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3450431" y="6229350"/>
            <a:ext cx="933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음성 입력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931569" y="622935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200"/>
              <a:buFont typeface="Noto Sans KR"/>
              <a:buNone/>
            </a:pPr>
            <a:r>
              <a:rPr lang="en-US" sz="120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Whisper STT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698456" y="622935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200"/>
              <a:buFont typeface="Noto Sans KR"/>
              <a:buNone/>
            </a:pPr>
            <a:r>
              <a:rPr lang="en-US" sz="120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Gemini 보정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8379619" y="6229350"/>
            <a:ext cx="933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자막 출력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1000"/>
            <a:ext cx="590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76350" y="514350"/>
            <a:ext cx="103441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8333" y="5276850"/>
            <a:ext cx="1029533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76933" y="5353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45989" y="54368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643783" y="54368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962870" y="5353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8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031927" y="54368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48820" y="54368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8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167908" y="5353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8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236964" y="54368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96708" y="54368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15795" y="5353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8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384852" y="54368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39820" y="54368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8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358908" y="5353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8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427964" y="5436840"/>
            <a:ext cx="166688" cy="1372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8"/>
          <p:cNvSpPr/>
          <p:nvPr/>
        </p:nvSpPr>
        <p:spPr>
          <a:xfrm>
            <a:off x="685800" y="381000"/>
            <a:ext cx="468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IEUM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571500" y="733425"/>
            <a:ext cx="11229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50"/>
              <a:buFont typeface="Calibri"/>
              <a:buNone/>
            </a:pPr>
            <a:r>
              <a:rPr lang="en-US" sz="28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서비스 시연 영상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1557933" y="5391150"/>
            <a:ext cx="2087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1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Google Meet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343870" y="5391150"/>
            <a:ext cx="3002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1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Chrome Extension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548908" y="5391150"/>
            <a:ext cx="2453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1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Whisper 음성 인식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7696795" y="5391150"/>
            <a:ext cx="2270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1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Gemini 문장 보정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9778008" y="5391150"/>
            <a:ext cx="1722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Noto Sans KR"/>
              <a:buNone/>
            </a:pPr>
            <a:r>
              <a:rPr lang="en-US" sz="1200" b="1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화면에 자막 표시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5457825" y="5981700"/>
            <a:ext cx="1971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7CB342"/>
                </a:solidFill>
                <a:latin typeface="Calibri"/>
                <a:ea typeface="Calibri"/>
                <a:cs typeface="Calibri"/>
                <a:sym typeface="Calibri"/>
              </a:rPr>
              <a:t>실제 서비스 시연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8" title="ieum_demo_video_20s(2).mp4">
            <a:hlinkClick r:id="rId17"/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168650" y="1518895"/>
            <a:ext cx="9854700" cy="3540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000"/>
            <a:ext cx="590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6350" y="514350"/>
            <a:ext cx="103441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14525"/>
            <a:ext cx="4445051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0955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657475"/>
            <a:ext cx="4445051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8384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400425"/>
            <a:ext cx="4445051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5814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143375"/>
            <a:ext cx="4445051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3243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86325"/>
            <a:ext cx="4445051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0673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629275"/>
            <a:ext cx="4445051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58102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397550" y="1657350"/>
            <a:ext cx="6222950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9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397550" y="1657350"/>
            <a:ext cx="62229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9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588050" y="18097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9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40450" y="18097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9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892850" y="18097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9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397550" y="2038350"/>
            <a:ext cx="62229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9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842200" y="3114675"/>
            <a:ext cx="1333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9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864200" y="4215925"/>
            <a:ext cx="5289500" cy="11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9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092800" y="4396900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9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397550" y="5524500"/>
            <a:ext cx="62229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9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127825" y="56388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9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215932" y="57416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9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699325" y="56388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9" descr="preencoded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7787432" y="57416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9" descr="preencoded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8270825" y="56388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9" descr="preencoded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8358932" y="57416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9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8842325" y="56388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9" descr="preencoded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8930432" y="57416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9" descr="preencoded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9413825" y="5638800"/>
            <a:ext cx="4762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9" descr="preencoded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9568607" y="5741640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9" descr="preencoded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6913686" y="6286498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9"/>
          <p:cNvSpPr/>
          <p:nvPr/>
        </p:nvSpPr>
        <p:spPr>
          <a:xfrm>
            <a:off x="685800" y="381000"/>
            <a:ext cx="468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IEUM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71500" y="733425"/>
            <a:ext cx="11229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50"/>
              <a:buFont typeface="Calibri"/>
              <a:buNone/>
            </a:pPr>
            <a:r>
              <a:rPr lang="en-US" sz="28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개발 결과 및 성과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1200150" y="2066925"/>
            <a:ext cx="5124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Noto Sans KR"/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Whisper 기반 음성 인식 구현 완료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1200150" y="2809875"/>
            <a:ext cx="4896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Noto Sans KR"/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Gemini 기반 문장 보정 구현 완료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1200150" y="3552825"/>
            <a:ext cx="4896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Noto Sans KR"/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FastAPI Backend 구축 완료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1200150" y="4295775"/>
            <a:ext cx="3451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Noto Sans KR"/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Chrome Extension 개발 완료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1200150" y="5038725"/>
            <a:ext cx="5810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Noto Sans KR"/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Google Meet Overlay 구현 완료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1200150" y="5781675"/>
            <a:ext cx="2838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Noto Sans KR"/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서비스 데모 완성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6140500" y="1762125"/>
            <a:ext cx="323088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Google Meet - IEUM Live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6292825" y="4368325"/>
            <a:ext cx="4832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CB342"/>
                </a:solidFill>
                <a:latin typeface="Calibri"/>
                <a:ea typeface="Calibri"/>
                <a:cs typeface="Calibri"/>
                <a:sym typeface="Calibri"/>
              </a:rPr>
              <a:t>IEUM AI CORRECTION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092800" y="4596925"/>
            <a:ext cx="48324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Noto Sans KR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"안녕하세요, 오늘 프로젝트 발표를 시작하겠습니다."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6922600" y="6248400"/>
            <a:ext cx="4490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Noto Sans KR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 최종 구현 결과: Google Meet 실시간 자막 오버레이 인터페이스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000"/>
            <a:ext cx="590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6350" y="514350"/>
            <a:ext cx="103441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" y="15144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575" y="1743075"/>
            <a:ext cx="19050" cy="803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33600" y="151447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57425" y="16668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895600" y="2202061"/>
            <a:ext cx="6953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0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667125" y="2202061"/>
            <a:ext cx="10191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0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5800" y="254704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575" y="2775645"/>
            <a:ext cx="19050" cy="803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0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133600" y="254704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10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257425" y="269944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0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895600" y="3234630"/>
            <a:ext cx="8477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0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819525" y="3234630"/>
            <a:ext cx="8953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0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85800" y="35796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575" y="3808214"/>
            <a:ext cx="19050" cy="803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0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133600" y="3579614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0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257425" y="373201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0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895600" y="4267200"/>
            <a:ext cx="10287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0" descr="preencoded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000500" y="4267200"/>
            <a:ext cx="8858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" y="461218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575" y="4840784"/>
            <a:ext cx="19050" cy="803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33600" y="4612184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0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2257425" y="476458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0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2895600" y="5299770"/>
            <a:ext cx="12096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0" descr="preencoded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181475" y="5299770"/>
            <a:ext cx="9715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0" descr="preencoded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5800" y="564475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0" descr="preencoded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90575" y="5873353"/>
            <a:ext cx="19050" cy="803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0" descr="preencoded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2133600" y="5644753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0" descr="preencoded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257425" y="579715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0" descr="preencoded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2895600" y="6332339"/>
            <a:ext cx="11525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10" descr="preencoded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4124325" y="6332339"/>
            <a:ext cx="9620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0"/>
          <p:cNvSpPr/>
          <p:nvPr/>
        </p:nvSpPr>
        <p:spPr>
          <a:xfrm>
            <a:off x="685800" y="381000"/>
            <a:ext cx="468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IEUM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571500" y="733425"/>
            <a:ext cx="11229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50"/>
              <a:buFont typeface="Calibri"/>
              <a:buNone/>
            </a:pPr>
            <a:r>
              <a:rPr lang="en-US" sz="28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향후 발전 계획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1104900" y="1514475"/>
            <a:ext cx="80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02D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BC02D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2895600" y="1514475"/>
            <a:ext cx="6534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Calibri"/>
              <a:buNone/>
            </a:pPr>
            <a:r>
              <a:rPr lang="en-US" sz="19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현재 시스템 안정화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2895600" y="1905000"/>
            <a:ext cx="9296400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Noto Sans KR"/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WAV 파일 업로드 기반의 데이터 처리 최적화 및 Whisper-Gemini 파이프라인 정교화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3009900" y="2202061"/>
            <a:ext cx="8280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Current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3781425" y="2202061"/>
            <a:ext cx="131747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WAV Upload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1104900" y="2547045"/>
            <a:ext cx="80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02D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BC02D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2895600" y="2547045"/>
            <a:ext cx="62769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Calibri"/>
              <a:buNone/>
            </a:pPr>
            <a:r>
              <a:rPr lang="en-US" sz="19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실시간 마이크 입력 지원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2895600" y="2937570"/>
            <a:ext cx="9296400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Noto Sans KR"/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업로드 방식을 넘어 화상회의 중 즉각적인 음성 캡처 및 실시간 처리 기능 구현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3009900" y="3234630"/>
            <a:ext cx="112801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Real-time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3933825" y="3234630"/>
            <a:ext cx="126783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Live Audio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1104900" y="3579614"/>
            <a:ext cx="80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02D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BC02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2895600" y="3579614"/>
            <a:ext cx="666178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Calibri"/>
              <a:buNone/>
            </a:pPr>
            <a:r>
              <a:rPr lang="en-US" sz="19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WebSocket Streaming 도입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2895600" y="3970139"/>
            <a:ext cx="9296400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Noto Sans KR"/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양방향 스트리밍 기술을 통한 자막 생성 딜레이 최소화 및 끊김 없는 사용자 경험 제공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3009900" y="4267200"/>
            <a:ext cx="144526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Low Latency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114800" y="4267200"/>
            <a:ext cx="114472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Streaming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1104900" y="4612184"/>
            <a:ext cx="80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02D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BC02D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2895600" y="4612184"/>
            <a:ext cx="62388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Calibri"/>
              <a:buNone/>
            </a:pPr>
            <a:r>
              <a:rPr lang="en-US" sz="19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사용자 맞춤형 개인화 보정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2895600" y="5002709"/>
            <a:ext cx="9296400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Noto Sans KR"/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개별 발화 특성을 학습하여 인식 정확도를 높이는 사용자 맞춤형 AI 모델 튜닝 도입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3009900" y="5299770"/>
            <a:ext cx="20229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Personalization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4295775" y="5299770"/>
            <a:ext cx="142225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Adaptive AI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1104900" y="5644753"/>
            <a:ext cx="80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C02D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BC02D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2895600" y="5644753"/>
            <a:ext cx="63436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Calibri"/>
              <a:buNone/>
            </a:pPr>
            <a:r>
              <a:rPr lang="en-US" sz="195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플랫폼 확장 및 모바일화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2895600" y="6035278"/>
            <a:ext cx="9296400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Noto Sans KR"/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Zoom, Teams 등 타 플랫폼 연동 및 모바일/데스크톱 독립 앱으로 서비스 영역 확장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3009900" y="6332339"/>
            <a:ext cx="187212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Multi-Platform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238625" y="6332339"/>
            <a:ext cx="129615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050"/>
              <a:buFont typeface="Noto Sans KR"/>
              <a:buNone/>
            </a:pPr>
            <a:r>
              <a:rPr lang="en-US" sz="1050" b="1" i="0" u="none" strike="noStrike" cap="none">
                <a:solidFill>
                  <a:srgbClr val="7CB342"/>
                </a:solidFill>
                <a:latin typeface="Noto Sans KR"/>
                <a:ea typeface="Noto Sans KR"/>
                <a:cs typeface="Noto Sans KR"/>
                <a:sym typeface="Noto Sans KR"/>
              </a:rPr>
              <a:t>Mobile App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613</Words>
  <Application>Microsoft Office PowerPoint</Application>
  <PresentationFormat>와이드스크린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유리 김</cp:lastModifiedBy>
  <cp:revision>2</cp:revision>
  <dcterms:created xsi:type="dcterms:W3CDTF">2026-06-28T08:23:30Z</dcterms:created>
  <dcterms:modified xsi:type="dcterms:W3CDTF">2026-06-28T08:52:30Z</dcterms:modified>
</cp:coreProperties>
</file>